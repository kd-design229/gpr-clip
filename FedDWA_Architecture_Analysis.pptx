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FedDWA 联邦学习框架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代码架构分析与模型总结</a:t>
            </a:r>
          </a:p>
          <a:p>
            <a:r>
              <a:t>Personalized Federated Learning with Dynamic Weight Adjustment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项目概述 (Project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📚 研究来源: IJCAI 2023 论文</a:t>
            </a:r>
          </a:p>
          <a:p>
            <a:pPr>
              <a:defRPr sz="1800"/>
            </a:pPr>
            <a:r>
              <a:t>🎯 核心目标: 个性化联邦学习 (Personalized Federated Learning)</a:t>
            </a:r>
          </a:p>
          <a:p>
            <a:pPr>
              <a:defRPr sz="1800"/>
            </a:pPr>
            <a:r>
              <a:t>🔬 主要创新: 动态权重调整 (Dynamic Weight Adjustment)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✨ 支持的联邦学习算法:</a:t>
            </a:r>
          </a:p>
          <a:p>
            <a:pPr lvl="1">
              <a:defRPr sz="1600"/>
            </a:pPr>
            <a:r>
              <a:t>FedDWA - 动态权重聚合 (本项目核心)</a:t>
            </a:r>
          </a:p>
          <a:p>
            <a:pPr lvl="1">
              <a:defRPr sz="1600"/>
            </a:pPr>
            <a:r>
              <a:t>FedAvg - 联邦平均 (基线方法)</a:t>
            </a:r>
          </a:p>
          <a:p>
            <a:pPr lvl="1">
              <a:defRPr sz="1600"/>
            </a:pPr>
            <a:r>
              <a:t>FedProx - 近端正则化</a:t>
            </a:r>
          </a:p>
          <a:p>
            <a:pPr lvl="1">
              <a:defRPr sz="1600"/>
            </a:pPr>
            <a:r>
              <a:t>FedNova - 归一化平均</a:t>
            </a:r>
          </a:p>
          <a:p>
            <a:pPr lvl="1">
              <a:defRPr sz="1600"/>
            </a:pPr>
            <a:r>
              <a:t>FedSAM - 锐度感知最小化</a:t>
            </a:r>
          </a:p>
          <a:p>
            <a:pPr lvl="1">
              <a:defRPr sz="1600"/>
            </a:pPr>
            <a:r>
              <a:t>MOON - 模型对比学习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整体系统架构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🏗️ 三层架构设计: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1️⃣ Server Layer (服务器层)</a:t>
            </a:r>
          </a:p>
          <a:p>
            <a:pPr lvl="1">
              <a:defRPr sz="1600"/>
            </a:pPr>
            <a:r>
              <a:t>负责客户端选择、模型聚合、全局协调</a:t>
            </a:r>
          </a:p>
          <a:p>
            <a:pPr lvl="1">
              <a:defRPr sz="1600"/>
            </a:pPr>
            <a:r>
              <a:t>ServerBase: 基础服务器类</a:t>
            </a:r>
          </a:p>
          <a:p>
            <a:pPr lvl="1">
              <a:defRPr sz="1600"/>
            </a:pPr>
            <a:r>
              <a:t>FedDWA/FedAvg/FedProx等: 算法特定实现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2️⃣ Client Layer (客户端层)</a:t>
            </a:r>
          </a:p>
          <a:p>
            <a:pPr lvl="1">
              <a:defRPr sz="1600"/>
            </a:pPr>
            <a:r>
              <a:t>执行本地训练、模型更新</a:t>
            </a:r>
          </a:p>
          <a:p>
            <a:pPr lvl="1">
              <a:defRPr sz="1600"/>
            </a:pPr>
            <a:r>
              <a:t>ClientBase: 基础客户端类</a:t>
            </a:r>
          </a:p>
          <a:p>
            <a:pPr lvl="1">
              <a:defRPr sz="1600"/>
            </a:pPr>
            <a:r>
              <a:t>ClientFedDWA: 支持两步模型预测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3️⃣ Model Layer (模型层)</a:t>
            </a:r>
          </a:p>
          <a:p>
            <a:pPr lvl="1">
              <a:defRPr sz="1600"/>
            </a:pPr>
            <a:r>
              <a:t>多种神经网络架构</a:t>
            </a:r>
          </a:p>
          <a:p>
            <a:pPr lvl="1">
              <a:defRPr sz="1600"/>
            </a:pPr>
            <a:r>
              <a:t>从简单CNN到Transformer全覆盖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FedDWA 核心算法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💡 动态权重调整 (Dynamic Weight Adjustment)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🔹 核心思想:</a:t>
            </a:r>
          </a:p>
          <a:p>
            <a:pPr lvl="1">
              <a:defRPr sz="1600"/>
            </a:pPr>
            <a:r>
              <a:t>为每个客户端计算个性化的聚合权重</a:t>
            </a:r>
          </a:p>
          <a:p>
            <a:pPr lvl="1">
              <a:defRPr sz="1600"/>
            </a:pPr>
            <a:r>
              <a:t>基于模型相似度选择最相关的邻居</a:t>
            </a:r>
          </a:p>
          <a:p>
            <a:pPr lvl="1">
              <a:defRPr sz="1600"/>
            </a:pPr>
            <a:r>
              <a:t>Top-K选择机制保留最有用的模型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🔹 算法流程:</a:t>
            </a:r>
          </a:p>
          <a:p>
            <a:pPr lvl="1">
              <a:defRPr sz="1600"/>
            </a:pPr>
            <a:r>
              <a:t>1. 客户端本地训练 → 生成当前模型 w_t</a:t>
            </a:r>
          </a:p>
          <a:p>
            <a:pPr lvl="1">
              <a:defRPr sz="1600"/>
            </a:pPr>
            <a:r>
              <a:t>2. 额外训练一步 → 生成下一步模型 w_{t+1}</a:t>
            </a:r>
          </a:p>
          <a:p>
            <a:pPr lvl="1">
              <a:defRPr sz="1600"/>
            </a:pPr>
            <a:r>
              <a:t>3. 服务器计算权重矩阵: W[i,j] ∝ 1/||w_{j,t+1} - w_{i,t}||²</a:t>
            </a:r>
          </a:p>
          <a:p>
            <a:pPr lvl="1">
              <a:defRPr sz="1600"/>
            </a:pPr>
            <a:r>
              <a:t>4. 列归一化 + Top-K剪枝 → 最优权重矩阵</a:t>
            </a:r>
          </a:p>
          <a:p>
            <a:pPr lvl="1">
              <a:defRPr sz="1600"/>
            </a:pPr>
            <a:r>
              <a:t>5. 个性化聚合: w_{i,new} = Σ W[j,i] * w_{j,t}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支持的模型架构 (1/3) - 基础模型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🧱 基础卷积神经网络: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CIFAR10Model / CIFAR100Model</a:t>
            </a:r>
          </a:p>
          <a:p>
            <a:pPr lvl="1">
              <a:defRPr sz="1600"/>
            </a:pPr>
            <a:r>
              <a:t>架构: Conv → BN → ReLU → MaxPool × 2 + FC</a:t>
            </a:r>
          </a:p>
          <a:p>
            <a:pPr lvl="1">
              <a:defRPr sz="1600"/>
            </a:pPr>
            <a:r>
              <a:t>参数: 2304 → 512 → 10/100 classes</a:t>
            </a:r>
          </a:p>
          <a:p>
            <a:pPr lvl="1">
              <a:defRPr sz="1600"/>
            </a:pPr>
            <a:r>
              <a:t>特点: 支持Head/Body分离 (用于个性化)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FedAvgCNN</a:t>
            </a:r>
          </a:p>
          <a:p>
            <a:pPr lvl="1">
              <a:defRPr sz="1600"/>
            </a:pPr>
            <a:r>
              <a:t>经典联邦学习基线模型</a:t>
            </a:r>
          </a:p>
          <a:p>
            <a:pPr lvl="1">
              <a:defRPr sz="1600"/>
            </a:pPr>
            <a:r>
              <a:t>5×5卷积核 + 2×2最大池化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ResNet8 / ResNet18</a:t>
            </a:r>
          </a:p>
          <a:p>
            <a:pPr lvl="1">
              <a:defRPr sz="1600"/>
            </a:pPr>
            <a:r>
              <a:t>残差网络变体</a:t>
            </a:r>
          </a:p>
          <a:p>
            <a:pPr lvl="1">
              <a:defRPr sz="1600"/>
            </a:pPr>
            <a:r>
              <a:t>支持CIFAR-10/100, Tiny-ImageNet, GPR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支持的模型架构 (2/3) - 现代架构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🚀 现代高效架构: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MobileViT (Vision Transformer for Mobile)</a:t>
            </a:r>
          </a:p>
          <a:p>
            <a:pPr lvl="1">
              <a:defRPr sz="1600"/>
            </a:pPr>
            <a:r>
              <a:t>使用 timm.mobilevit_s 作为backbone</a:t>
            </a:r>
          </a:p>
          <a:p>
            <a:pPr lvl="1">
              <a:defRPr sz="1600"/>
            </a:pPr>
            <a:r>
              <a:t>GPR模式: 添加可学习的信号预处理层</a:t>
            </a:r>
          </a:p>
          <a:p>
            <a:pPr lvl="1">
              <a:defRPr sz="1600"/>
            </a:pPr>
            <a:r>
              <a:t>特点: 轻量级、适合移动端部署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EfficientNet-B0</a:t>
            </a:r>
          </a:p>
          <a:p>
            <a:pPr lvl="1">
              <a:defRPr sz="1600"/>
            </a:pPr>
            <a:r>
              <a:t>高效卷积网络 (来自 timm 库)</a:t>
            </a:r>
          </a:p>
          <a:p>
            <a:pPr lvl="1">
              <a:defRPr sz="1600"/>
            </a:pPr>
            <a:r>
              <a:t>复合缩放策略优化深度/宽度/分辨率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ResNet18-TIMM</a:t>
            </a:r>
          </a:p>
          <a:p>
            <a:pPr lvl="1">
              <a:defRPr sz="1600"/>
            </a:pPr>
            <a:r>
              <a:t>标准化的 ResNet18 实现</a:t>
            </a:r>
          </a:p>
          <a:p>
            <a:pPr lvl="1">
              <a:defRPr sz="1600"/>
            </a:pPr>
            <a:r>
              <a:t>支持多数据集 (CIFAR/Tiny-ImageNet/GPR)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支持的模型架构 (3/3) - 前沿模型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🌟 前沿多模态与专用架构: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FedCLIP (CLIP for Federated Learning)</a:t>
            </a:r>
          </a:p>
          <a:p>
            <a:pPr lvl="1">
              <a:defRPr sz="1600"/>
            </a:pPr>
            <a:r>
              <a:t>基于OpenAI CLIP的多模态模型</a:t>
            </a:r>
          </a:p>
          <a:p>
            <a:pPr lvl="1">
              <a:defRPr sz="1600"/>
            </a:pPr>
            <a:r>
              <a:t>核心组件: MaskedMLP + Softmax注意力机制</a:t>
            </a:r>
          </a:p>
          <a:p>
            <a:pPr lvl="1">
              <a:defRPr sz="1600"/>
            </a:pPr>
            <a:r>
              <a:t>支持CoOp (Context Optimization)</a:t>
            </a:r>
          </a:p>
          <a:p>
            <a:pPr lvl="1">
              <a:defRPr sz="1600"/>
            </a:pPr>
            <a:r>
              <a:t>物理先验初始化: GPR B-scan signal...</a:t>
            </a:r>
          </a:p>
          <a:p>
            <a:pPr lvl="1">
              <a:defRPr sz="1600"/>
            </a:pPr>
            <a:r>
              <a:t>Prompt Ensemble: 多模板聚合提升鲁棒性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GPR-FedSense (Ground Penetrating Radar)</a:t>
            </a:r>
          </a:p>
          <a:p>
            <a:pPr lvl="1">
              <a:defRPr sz="1600"/>
            </a:pPr>
            <a:r>
              <a:t>专为探地雷达数据设计</a:t>
            </a:r>
          </a:p>
          <a:p>
            <a:pPr lvl="1">
              <a:defRPr sz="1600"/>
            </a:pPr>
            <a:r>
              <a:t>三层架构: 本地私有层 + 全局共享层 + 个性化头</a:t>
            </a:r>
          </a:p>
          <a:p>
            <a:pPr lvl="1">
              <a:defRPr sz="1600"/>
            </a:pPr>
            <a:r>
              <a:t>支持FedVLS和FedDecorr优化策略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FedCLIP 架构详解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🖼️ 视觉-语言联邦学习模型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核心组件:</a:t>
            </a:r>
          </a:p>
          <a:p>
            <a:pPr>
              <a:defRPr sz="1800"/>
            </a:pPr>
            <a:r>
              <a:t>1. CLIP Backbone (冻结)</a:t>
            </a:r>
          </a:p>
          <a:p>
            <a:pPr lvl="1">
              <a:defRPr sz="1600"/>
            </a:pPr>
            <a:r>
              <a:t>使用预训练的ViT-B/32或ViT-L/14</a:t>
            </a:r>
          </a:p>
          <a:p>
            <a:pPr lvl="1">
              <a:defRPr sz="1600"/>
            </a:pPr>
            <a:r>
              <a:t>图像编码器: encode_image() → 512D特征</a:t>
            </a:r>
          </a:p>
          <a:p>
            <a:pPr lvl="1">
              <a:defRPr sz="1600"/>
            </a:pPr>
            <a:r>
              <a:t>文本编码器: encode_text() → 512D特征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MaskedMLP Adapter (可训练)</a:t>
            </a:r>
          </a:p>
          <a:p>
            <a:pPr lvl="1">
              <a:defRPr sz="1600"/>
            </a:pPr>
            <a:r>
              <a:t>二值化步长函数: 动态生成稀疏掩码</a:t>
            </a:r>
          </a:p>
          <a:p>
            <a:pPr lvl="1">
              <a:defRPr sz="1600"/>
            </a:pPr>
            <a:r>
              <a:t>可学习阈值: 控制剪枝力度</a:t>
            </a:r>
          </a:p>
          <a:p>
            <a:pPr lvl="1">
              <a:defRPr sz="1600"/>
            </a:pPr>
            <a:r>
              <a:t>Attention机制: fea_attn = MaskedMLP → BN → ReLU → MaskedMLP → Softmax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CoOp Prompt Learning (可选)</a:t>
            </a:r>
          </a:p>
          <a:p>
            <a:pPr lvl="1">
              <a:defRPr sz="1600"/>
            </a:pPr>
            <a:r>
              <a:t>PromptLearner: 学习 n_ctx=16 个上下文向量</a:t>
            </a:r>
          </a:p>
          <a:p>
            <a:pPr lvl="1">
              <a:defRPr sz="1600"/>
            </a:pPr>
            <a:r>
              <a:t>Physics-based初始化: 使用GPR领域先验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GPR-FedSense 架构详解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📡 探地雷达专用联邦学习模型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三层分离式设计: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1️⃣ 本地私有层 (不参与聚合)</a:t>
            </a:r>
          </a:p>
          <a:p>
            <a:pPr lvl="1">
              <a:defRPr sz="1600"/>
            </a:pPr>
            <a:r>
              <a:t>GPRSignalNorm: 可学习的信号归一化</a:t>
            </a:r>
          </a:p>
          <a:p>
            <a:pPr lvl="1">
              <a:defRPr sz="1600"/>
            </a:pPr>
            <a:r>
              <a:t>GPRFeatureExtractor: 时空特征提取</a:t>
            </a:r>
          </a:p>
          <a:p>
            <a:pPr lvl="2">
              <a:defRPr sz="1400"/>
            </a:pPr>
            <a:r>
              <a:t>时间域卷积 (5×1): 捕获深度反射</a:t>
            </a:r>
          </a:p>
          <a:p>
            <a:pPr lvl="2">
              <a:defRPr sz="1400"/>
            </a:pPr>
            <a:r>
              <a:t>空间域卷积 (1×5): 捕获横向延续性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2️⃣ 全局共享层 (联邦聚合)</a:t>
            </a:r>
          </a:p>
          <a:p>
            <a:pPr lvl="1">
              <a:defRPr sz="1600"/>
            </a:pPr>
            <a:r>
              <a:t>支持三种Backbone: CNN / ResNet18 / MobileViT</a:t>
            </a:r>
          </a:p>
          <a:p>
            <a:pPr lvl="1">
              <a:defRPr sz="1600"/>
            </a:pPr>
            <a:r>
              <a:t>提取高层语义特征 → 512D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3️⃣ 个性化分类头 (ALA自适应聚合)</a:t>
            </a:r>
          </a:p>
          <a:p>
            <a:pPr lvl="1">
              <a:defRPr sz="1600"/>
            </a:pPr>
            <a:r>
              <a:t>Dropout → FC(512→256) → FC(256→8类)</a:t>
            </a:r>
          </a:p>
          <a:p>
            <a:pPr lvl="1">
              <a:defRPr sz="1600"/>
            </a:pPr>
            <a:r>
              <a:t>支持ALA加权聚合应对Non-IID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客户端-服务器交互流程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🔄 联邦学习训练循环 (每轮):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服务器选择客户端</a:t>
            </a:r>
          </a:p>
          <a:p>
            <a:pPr lvl="1">
              <a:defRPr sz="1600"/>
            </a:pPr>
            <a:r>
              <a:t>随机选择 client_frac × N 个客户端</a:t>
            </a:r>
          </a:p>
          <a:p>
            <a:pPr lvl="1">
              <a:defRPr sz="1600"/>
            </a:pPr>
            <a:r>
              <a:t>例: N=20, frac=0.5 → 10个客户端参与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服务器分发模型</a:t>
            </a:r>
          </a:p>
          <a:p>
            <a:pPr lvl="1">
              <a:defRPr sz="1600"/>
            </a:pPr>
            <a:r>
              <a:t>send_models(): 发送全局模型/个性化模型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客户端本地训练</a:t>
            </a:r>
          </a:p>
          <a:p>
            <a:pPr lvl="1">
              <a:defRPr sz="1600"/>
            </a:pPr>
            <a:r>
              <a:t>本地数据集上训练 E 个epoch</a:t>
            </a:r>
          </a:p>
          <a:p>
            <a:pPr lvl="1">
              <a:defRPr sz="1600"/>
            </a:pPr>
            <a:r>
              <a:t>FedDWA: 额外计算下一步模型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客户端上传模型</a:t>
            </a:r>
          </a:p>
          <a:p>
            <a:pPr lvl="1">
              <a:defRPr sz="1600"/>
            </a:pPr>
            <a:r>
              <a:t>receive_models(): 收集更新后的模型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5. 服务器聚合</a:t>
            </a:r>
          </a:p>
          <a:p>
            <a:pPr lvl="1">
              <a:defRPr sz="1600"/>
            </a:pPr>
            <a:r>
              <a:t>FedAvg: 加权平均</a:t>
            </a:r>
          </a:p>
          <a:p>
            <a:pPr lvl="1">
              <a:defRPr sz="1600"/>
            </a:pPr>
            <a:r>
              <a:t>FedDWA: 动态权重矩阵聚合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数据处理与Non-IID设置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📊 数据集支持:</a:t>
            </a:r>
          </a:p>
          <a:p>
            <a:pPr lvl="1">
              <a:defRPr sz="1600"/>
            </a:pPr>
            <a:r>
              <a:t>CIFAR-10 / CIFAR-100</a:t>
            </a:r>
          </a:p>
          <a:p>
            <a:pPr lvl="1">
              <a:defRPr sz="1600"/>
            </a:pPr>
            <a:r>
              <a:t>CINIC-10</a:t>
            </a:r>
          </a:p>
          <a:p>
            <a:pPr lvl="1">
              <a:defRPr sz="1600"/>
            </a:pPr>
            <a:r>
              <a:t>Tiny-ImageNet (200类)</a:t>
            </a:r>
          </a:p>
          <a:p>
            <a:pPr lvl="1">
              <a:defRPr sz="1600"/>
            </a:pPr>
            <a:r>
              <a:t>GPR Custom (探地雷达 8类)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🔀 Non-IID分布类型: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Type 8 - 病态异构 (Pathological)</a:t>
            </a:r>
          </a:p>
          <a:p>
            <a:pPr lvl="1">
              <a:defRPr sz="1600"/>
            </a:pPr>
            <a:r>
              <a:t>每个客户端只有少数几个类别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Type 9 - 实际异构1 (Dirichlet分布)</a:t>
            </a:r>
          </a:p>
          <a:p>
            <a:pPr lvl="1">
              <a:defRPr sz="1600"/>
            </a:pPr>
            <a:r>
              <a:t>使用Dirichlet(α) 控制数据分布偏斜</a:t>
            </a:r>
          </a:p>
          <a:p>
            <a:pPr lvl="1">
              <a:defRPr sz="1600"/>
            </a:pPr>
            <a:r>
              <a:t>α越小，Non-IID程度越高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Type 10 - 实际异构2 (类别数+比例)</a:t>
            </a:r>
          </a:p>
          <a:p>
            <a:pPr lvl="1">
              <a:defRPr sz="1600"/>
            </a:pPr>
            <a:r>
              <a:t>每个客户端固定num_types个类,占比ratio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高级优化策略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🚀 支持的优化技术: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FedVLS (Vacant-class Distillation)</a:t>
            </a:r>
          </a:p>
          <a:p>
            <a:pPr lvl="1">
              <a:defRPr sz="1600"/>
            </a:pPr>
            <a:r>
              <a:t>空置类蒸馏: 处理本地缺失的类别</a:t>
            </a:r>
          </a:p>
          <a:p>
            <a:pPr lvl="1">
              <a:defRPr sz="1600"/>
            </a:pPr>
            <a:r>
              <a:t>使用全局模型作为教师模型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FedDecorr (Feature Decorrelation)</a:t>
            </a:r>
          </a:p>
          <a:p>
            <a:pPr lvl="1">
              <a:defRPr sz="1600"/>
            </a:pPr>
            <a:r>
              <a:t>特征去相关: 减少特征冗余</a:t>
            </a:r>
          </a:p>
          <a:p>
            <a:pPr lvl="1">
              <a:defRPr sz="1600"/>
            </a:pPr>
            <a:r>
              <a:t>正交约束提升泛化能力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ALA (Adaptive Layer Aggregation)</a:t>
            </a:r>
          </a:p>
          <a:p>
            <a:pPr lvl="1">
              <a:defRPr sz="1600"/>
            </a:pPr>
            <a:r>
              <a:t>自适应层聚合: 不同层使用不同权重</a:t>
            </a:r>
          </a:p>
          <a:p>
            <a:pPr lvl="1">
              <a:defRPr sz="1600"/>
            </a:pPr>
            <a:r>
              <a:t>参数: rand_percent, layer_idx, eta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Learning Rate Decay</a:t>
            </a:r>
          </a:p>
          <a:p>
            <a:pPr lvl="1">
              <a:defRPr sz="1600"/>
            </a:pPr>
            <a:r>
              <a:t>学习率衰减: lr_decay, lr_decay_step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代码模块结构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286000" cy="91440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1400">
                <a:solidFill>
                  <a:srgbClr val="FFFFFF"/>
                </a:solidFill>
              </a:defRPr>
            </a:pPr>
            <a:r>
              <a:t>main.py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入口程序</a:t>
            </a:r>
            <a:br/>
            <a:r>
              <a:t>参数解析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1371600"/>
            <a:ext cx="2286000" cy="91440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1400">
                <a:solidFill>
                  <a:srgbClr val="FFFFFF"/>
                </a:solidFill>
              </a:defRPr>
            </a:pPr>
            <a:r>
              <a:t>servers/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服务器实现</a:t>
            </a:r>
            <a:br/>
            <a:r>
              <a:t>Base+算法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2286000" cy="914400"/>
          </a:xfrm>
          <a:prstGeom prst="rect">
            <a:avLst/>
          </a:prstGeom>
          <a:solidFill>
            <a:srgbClr val="A5A5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1400">
                <a:solidFill>
                  <a:srgbClr val="FFFFFF"/>
                </a:solidFill>
              </a:defRPr>
            </a:pPr>
            <a:r>
              <a:t>clients/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客户端实现</a:t>
            </a:r>
            <a:br/>
            <a:r>
              <a:t>Base+算法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2286000" cy="91440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1400">
                <a:solidFill>
                  <a:srgbClr val="FFFFFF"/>
                </a:solidFill>
              </a:defRPr>
            </a:pPr>
            <a:r>
              <a:t>model/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神经网络</a:t>
            </a:r>
            <a:br/>
            <a:r>
              <a:t>MLModel.py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560320"/>
            <a:ext cx="2286000" cy="91440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1400">
                <a:solidFill>
                  <a:srgbClr val="FFFFFF"/>
                </a:solidFill>
              </a:defRPr>
            </a:pPr>
            <a:r>
              <a:t>utils/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工具函数</a:t>
            </a:r>
            <a:br/>
            <a:r>
              <a:t>数据/日志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560320"/>
            <a:ext cx="2286000" cy="914400"/>
          </a:xfrm>
          <a:prstGeom prst="rect">
            <a:avLst/>
          </a:prstGeom>
          <a:solidFill>
            <a:srgbClr val="9E48B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1400">
                <a:solidFill>
                  <a:srgbClr val="FFFFFF"/>
                </a:solidFill>
              </a:defRPr>
            </a:pPr>
            <a:r>
              <a:t>logs_feddwa/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实验日志</a:t>
            </a:r>
            <a:br/>
            <a:r>
              <a:t>CSV结果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实验配置参数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⚙️ 主要超参数: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全局参数:</a:t>
            </a:r>
          </a:p>
          <a:p>
            <a:pPr lvl="1">
              <a:defRPr sz="1600"/>
            </a:pPr>
            <a:r>
              <a:t>Tg: 全局通信轮数 (默认100)</a:t>
            </a:r>
          </a:p>
          <a:p>
            <a:pPr lvl="1">
              <a:defRPr sz="1600"/>
            </a:pPr>
            <a:r>
              <a:t>client_num: 客户端总数 (默认20)</a:t>
            </a:r>
          </a:p>
          <a:p>
            <a:pPr lvl="1">
              <a:defRPr sz="1600"/>
            </a:pPr>
            <a:r>
              <a:t>client_frac: 每轮参与比例 (默认0.5)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本地训练:</a:t>
            </a:r>
          </a:p>
          <a:p>
            <a:pPr lvl="1">
              <a:defRPr sz="1600"/>
            </a:pPr>
            <a:r>
              <a:t>E: 本地训练epoch数 (默认1)</a:t>
            </a:r>
          </a:p>
          <a:p>
            <a:pPr lvl="1">
              <a:defRPr sz="1600"/>
            </a:pPr>
            <a:r>
              <a:t>B: 本地batch size (默认20)</a:t>
            </a:r>
          </a:p>
          <a:p>
            <a:pPr lvl="1">
              <a:defRPr sz="1600"/>
            </a:pPr>
            <a:r>
              <a:t>lr: 学习率 (默认0.01)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FedDWA特定:</a:t>
            </a:r>
          </a:p>
          <a:p>
            <a:pPr lvl="1">
              <a:defRPr sz="1600"/>
            </a:pPr>
            <a:r>
              <a:t>feddwa_topk: Top-K邻居数 (默认5)</a:t>
            </a:r>
          </a:p>
          <a:p>
            <a:pPr lvl="1">
              <a:defRPr sz="1600"/>
            </a:pPr>
            <a:r>
              <a:t>next_round: 下一步预测轮数 (默认1)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结果保存与可视化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📈 自动生成的结果: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训练日志 (logs_feddwa/)</a:t>
            </a:r>
          </a:p>
          <a:p>
            <a:pPr lvl="1">
              <a:defRPr sz="1600"/>
            </a:pPr>
            <a:r>
              <a:t>*.json: 测试准确率、训练损失等</a:t>
            </a:r>
          </a:p>
          <a:p>
            <a:pPr lvl="1">
              <a:defRPr sz="1600"/>
            </a:pPr>
            <a:r>
              <a:t>*.csv: 详细的逐轮结果</a:t>
            </a:r>
          </a:p>
          <a:p>
            <a:pPr lvl="1">
              <a:defRPr sz="1600"/>
            </a:pPr>
            <a:r>
              <a:t>*_model_structure.json: 模型结构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混淆矩阵 (Confusion Matrices)</a:t>
            </a:r>
          </a:p>
          <a:p>
            <a:pPr lvl="1">
              <a:defRPr sz="1600"/>
            </a:pPr>
            <a:r>
              <a:t>client_confusion_matrices/: 每个客户端的CM</a:t>
            </a:r>
          </a:p>
          <a:p>
            <a:pPr lvl="1">
              <a:defRPr sz="1600"/>
            </a:pPr>
            <a:r>
              <a:t>使用seaborn绘制热力图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训练曲线 (plot_training_results)</a:t>
            </a:r>
          </a:p>
          <a:p>
            <a:pPr lvl="1">
              <a:defRPr sz="1600"/>
            </a:pPr>
            <a:r>
              <a:t>准确率 vs. 轮数</a:t>
            </a:r>
          </a:p>
          <a:p>
            <a:pPr lvl="1">
              <a:defRPr sz="1600"/>
            </a:pPr>
            <a:r>
              <a:t>损失 vs. 轮数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模型检查点</a:t>
            </a:r>
          </a:p>
          <a:p>
            <a:pPr lvl="1">
              <a:defRPr sz="1600"/>
            </a:pPr>
            <a:r>
              <a:t>保存最优模型权重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关键创新点总结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💡 本项目的核心贡献: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1️⃣ FedDWA算法</a:t>
            </a:r>
          </a:p>
          <a:p>
            <a:pPr lvl="1">
              <a:defRPr sz="1600"/>
            </a:pPr>
            <a:r>
              <a:t>基于模型相似度的动态权重聚合</a:t>
            </a:r>
          </a:p>
          <a:p>
            <a:pPr lvl="1">
              <a:defRPr sz="1600"/>
            </a:pPr>
            <a:r>
              <a:t>为每个客户端提供个性化模型</a:t>
            </a:r>
          </a:p>
          <a:p>
            <a:pPr lvl="1">
              <a:defRPr sz="1600"/>
            </a:pPr>
            <a:r>
              <a:t>Top-K机制提高聚合效率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2️⃣ 多模态联邦学习 (FedCLIP)</a:t>
            </a:r>
          </a:p>
          <a:p>
            <a:pPr lvl="1">
              <a:defRPr sz="1600"/>
            </a:pPr>
            <a:r>
              <a:t>首次将CLIP引入联邦学习</a:t>
            </a:r>
          </a:p>
          <a:p>
            <a:pPr lvl="1">
              <a:defRPr sz="1600"/>
            </a:pPr>
            <a:r>
              <a:t>CoOp物理先验初始化</a:t>
            </a:r>
          </a:p>
          <a:p>
            <a:pPr lvl="1">
              <a:defRPr sz="1600"/>
            </a:pPr>
            <a:r>
              <a:t>MaskedMLP实现稀疏适配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3️⃣ 专用领域适配 (GPR-FedSense)</a:t>
            </a:r>
          </a:p>
          <a:p>
            <a:pPr lvl="1">
              <a:defRPr sz="1600"/>
            </a:pPr>
            <a:r>
              <a:t>三层分离架构适配探地雷达</a:t>
            </a:r>
          </a:p>
          <a:p>
            <a:pPr lvl="1">
              <a:defRPr sz="1600"/>
            </a:pPr>
            <a:r>
              <a:t>时空特征提取器</a:t>
            </a:r>
          </a:p>
          <a:p>
            <a:pPr lvl="1">
              <a:defRPr sz="1600"/>
            </a:pPr>
            <a:r>
              <a:t>本地私有层保护设备特异性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4️⃣ 全面的算法对比框架</a:t>
            </a:r>
          </a:p>
          <a:p>
            <a:pPr lvl="1">
              <a:defRPr sz="1600"/>
            </a:pPr>
            <a:r>
              <a:t>统一接口支持6种联邦学习算法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技术栈 (Tech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🛠️ 主要依赖库: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深度学习框架:</a:t>
            </a:r>
          </a:p>
          <a:p>
            <a:pPr lvl="1">
              <a:defRPr sz="1600"/>
            </a:pPr>
            <a:r>
              <a:t>PyTorch - 核心训练框架</a:t>
            </a:r>
          </a:p>
          <a:p>
            <a:pPr lvl="1">
              <a:defRPr sz="1600"/>
            </a:pPr>
            <a:r>
              <a:t>torchvision - 视觉模型与数据集</a:t>
            </a:r>
          </a:p>
          <a:p>
            <a:pPr lvl="1">
              <a:defRPr sz="1600"/>
            </a:pPr>
            <a:r>
              <a:t>timm - 预训练模型库</a:t>
            </a:r>
          </a:p>
          <a:p>
            <a:pPr lvl="1">
              <a:defRPr sz="1600"/>
            </a:pPr>
            <a:r>
              <a:t>CLIP - 多模态预训练模型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科学计算:</a:t>
            </a:r>
          </a:p>
          <a:p>
            <a:pPr lvl="1">
              <a:defRPr sz="1600"/>
            </a:pPr>
            <a:r>
              <a:t>NumPy - 数值计算</a:t>
            </a:r>
          </a:p>
          <a:p>
            <a:pPr lvl="1">
              <a:defRPr sz="1600"/>
            </a:pPr>
            <a:r>
              <a:t>scikit-learn - 评估指标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可视化:</a:t>
            </a:r>
          </a:p>
          <a:p>
            <a:pPr lvl="1">
              <a:defRPr sz="1600"/>
            </a:pPr>
            <a:r>
              <a:t>matplotlib - 绘图</a:t>
            </a:r>
          </a:p>
          <a:p>
            <a:pPr lvl="1">
              <a:defRPr sz="1600"/>
            </a:pPr>
            <a:r>
              <a:t>seaborn - 统计可视化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其他:</a:t>
            </a:r>
          </a:p>
          <a:p>
            <a:pPr lvl="1">
              <a:defRPr sz="1600"/>
            </a:pPr>
            <a:r>
              <a:t>h5py - HDF5数据格式</a:t>
            </a:r>
          </a:p>
          <a:p>
            <a:pPr lvl="1">
              <a:defRPr sz="1600"/>
            </a:pPr>
            <a:r>
              <a:t>pathlib - 路径管理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模型复杂度对比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📊 不同模型的参数规模: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轻量级模型:</a:t>
            </a:r>
          </a:p>
          <a:p>
            <a:pPr lvl="1">
              <a:defRPr sz="1600"/>
            </a:pPr>
            <a:r>
              <a:t>CIFAR10Model: ~2.3M 参数</a:t>
            </a:r>
          </a:p>
          <a:p>
            <a:pPr lvl="1">
              <a:defRPr sz="1600"/>
            </a:pPr>
            <a:r>
              <a:t>FedAvgCNN: ~1.2M 参数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中等模型:</a:t>
            </a:r>
          </a:p>
          <a:p>
            <a:pPr lvl="1">
              <a:defRPr sz="1600"/>
            </a:pPr>
            <a:r>
              <a:t>ResNet18: ~11M 参数</a:t>
            </a:r>
          </a:p>
          <a:p>
            <a:pPr lvl="1">
              <a:defRPr sz="1600"/>
            </a:pPr>
            <a:r>
              <a:t>MobileViT-S: ~5M 参数</a:t>
            </a:r>
          </a:p>
          <a:p>
            <a:pPr lvl="1">
              <a:defRPr sz="1600"/>
            </a:pPr>
            <a:r>
              <a:t>EfficientNet-B0: ~5M 参数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大型模型:</a:t>
            </a:r>
          </a:p>
          <a:p>
            <a:pPr lvl="1">
              <a:defRPr sz="1600"/>
            </a:pPr>
            <a:r>
              <a:t>FedCLIP (ViT-B/32): ~87M 参数 (冻结)</a:t>
            </a:r>
          </a:p>
          <a:p>
            <a:pPr lvl="1">
              <a:defRPr sz="1600"/>
            </a:pPr>
            <a:r>
              <a:t>  + Adapter: ~0.5M 可训练参数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专用模型:</a:t>
            </a:r>
          </a:p>
          <a:p>
            <a:pPr lvl="1">
              <a:defRPr sz="1600"/>
            </a:pPr>
            <a:r>
              <a:t>GPR-FedSense: 可配置 (3M~15M)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应用场景 (Application Scenarios)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🌐 联邦学习适用领域: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医疗健康 (Healthcare)</a:t>
            </a:r>
          </a:p>
          <a:p>
            <a:pPr lvl="1">
              <a:defRPr sz="1600"/>
            </a:pPr>
            <a:r>
              <a:t>医院间协作训练，无需共享病患数据</a:t>
            </a:r>
          </a:p>
          <a:p>
            <a:pPr lvl="1">
              <a:defRPr sz="1600"/>
            </a:pPr>
            <a:r>
              <a:t>FedCLIP: 医学图像+报告联合学习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智能交通 (Intelligent Transportation)</a:t>
            </a:r>
          </a:p>
          <a:p>
            <a:pPr lvl="1">
              <a:defRPr sz="1600"/>
            </a:pPr>
            <a:r>
              <a:t>车辆间协同感知</a:t>
            </a:r>
          </a:p>
          <a:p>
            <a:pPr lvl="1">
              <a:defRPr sz="1600"/>
            </a:pPr>
            <a:r>
              <a:t>GPR-FedSense: 路面检测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金融风控 (Finance)</a:t>
            </a:r>
          </a:p>
          <a:p>
            <a:pPr lvl="1">
              <a:defRPr sz="1600"/>
            </a:pPr>
            <a:r>
              <a:t>银行间反欺诈模型</a:t>
            </a:r>
          </a:p>
          <a:p>
            <a:pPr lvl="1">
              <a:defRPr sz="1600"/>
            </a:pPr>
            <a:r>
              <a:t>保护客户隐私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工业检测 (Industrial Inspection)</a:t>
            </a:r>
          </a:p>
          <a:p>
            <a:pPr lvl="1">
              <a:defRPr sz="1600"/>
            </a:pPr>
            <a:r>
              <a:t>探地雷达、无损检测</a:t>
            </a:r>
          </a:p>
          <a:p>
            <a:pPr lvl="1">
              <a:defRPr sz="1600"/>
            </a:pPr>
            <a:r>
              <a:t>设备间知识共享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未来工作方向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🔮 可能的改进方向: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算法优化</a:t>
            </a:r>
          </a:p>
          <a:p>
            <a:pPr lvl="1">
              <a:defRPr sz="1600"/>
            </a:pPr>
            <a:r>
              <a:t>结合差分隐私 (Differential Privacy)</a:t>
            </a:r>
          </a:p>
          <a:p>
            <a:pPr lvl="1">
              <a:defRPr sz="1600"/>
            </a:pPr>
            <a:r>
              <a:t>安全多方计算 (Secure Multi-party Computation)</a:t>
            </a:r>
          </a:p>
          <a:p>
            <a:pPr lvl="1">
              <a:defRPr sz="1600"/>
            </a:pPr>
            <a:r>
              <a:t>拜占庭鲁棒聚合 (Byzantine-robust Aggregation)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模型压缩</a:t>
            </a:r>
          </a:p>
          <a:p>
            <a:pPr lvl="1">
              <a:defRPr sz="1600"/>
            </a:pPr>
            <a:r>
              <a:t>知识蒸馏 (Knowledge Distillation)</a:t>
            </a:r>
          </a:p>
          <a:p>
            <a:pPr lvl="1">
              <a:defRPr sz="1600"/>
            </a:pPr>
            <a:r>
              <a:t>模型剪枝 (Pruning)</a:t>
            </a:r>
          </a:p>
          <a:p>
            <a:pPr lvl="1">
              <a:defRPr sz="1600"/>
            </a:pPr>
            <a:r>
              <a:t>量化感知训练 (Quantization-aware Training)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通信优化</a:t>
            </a:r>
          </a:p>
          <a:p>
            <a:pPr lvl="1">
              <a:defRPr sz="1600"/>
            </a:pPr>
            <a:r>
              <a:t>梯度压缩 (Gradient Compression)</a:t>
            </a:r>
          </a:p>
          <a:p>
            <a:pPr lvl="1">
              <a:defRPr sz="1600"/>
            </a:pPr>
            <a:r>
              <a:t>部分参数更新 (Partial Update)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异步联邦学习</a:t>
            </a:r>
          </a:p>
          <a:p>
            <a:pPr lvl="1">
              <a:defRPr sz="1600"/>
            </a:pPr>
            <a:r>
              <a:t>支持异构设备异步训练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 (Conclusion)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本项目实现了: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🏆 完整的联邦学习框架</a:t>
            </a:r>
          </a:p>
          <a:p>
            <a:pPr lvl="1">
              <a:defRPr sz="1600"/>
            </a:pPr>
            <a:r>
              <a:t>支持6种主流联邦学习算法</a:t>
            </a:r>
          </a:p>
          <a:p>
            <a:pPr lvl="1">
              <a:defRPr sz="1600"/>
            </a:pPr>
            <a:r>
              <a:t>统一的Server-Client架构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🧠 丰富的模型库</a:t>
            </a:r>
          </a:p>
          <a:p>
            <a:pPr lvl="1">
              <a:defRPr sz="1600"/>
            </a:pPr>
            <a:r>
              <a:t>从基础CNN到前沿Transformer</a:t>
            </a:r>
          </a:p>
          <a:p>
            <a:pPr lvl="1">
              <a:defRPr sz="1600"/>
            </a:pPr>
            <a:r>
              <a:t>特别优化的GPR/CLIP模型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🔬 严谨的实验设计</a:t>
            </a:r>
          </a:p>
          <a:p>
            <a:pPr lvl="1">
              <a:defRPr sz="1600"/>
            </a:pPr>
            <a:r>
              <a:t>多种Non-IID设置</a:t>
            </a:r>
          </a:p>
          <a:p>
            <a:pPr lvl="1">
              <a:defRPr sz="1600"/>
            </a:pPr>
            <a:r>
              <a:t>完善的评估与可视化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📚 清晰的代码组织</a:t>
            </a:r>
          </a:p>
          <a:p>
            <a:pPr lvl="1">
              <a:defRPr sz="1600"/>
            </a:pPr>
            <a:r>
              <a:t>模块化设计，易于扩展</a:t>
            </a:r>
          </a:p>
          <a:p>
            <a:pPr lvl="1">
              <a:defRPr sz="1600"/>
            </a:pPr>
            <a:r>
              <a:t>详细的注释与文档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💬 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